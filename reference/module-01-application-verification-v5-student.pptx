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8" r:id="rId19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1695" cy="54864"/>
          </a:xfrm>
          <a:prstGeom prst="rect">
            <a:avLst/>
          </a:prstGeom>
          <a:solidFill>
            <a:srgbClr val="2EA9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E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EA98D"/>
                </a:solidFill>
                <a:latin typeface="Calibri"/>
              </a:rPr>
              <a:t>MODULE 1 ·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Application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C5DAD2"/>
                </a:solidFill>
                <a:latin typeface="Calibri"/>
              </a:rPr>
              <a:t>Student Brief v5 — what we expect from your module; discovering the rest is part of the job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4A9A1"/>
                </a:solidFill>
                <a:latin typeface="Calibri"/>
              </a:rPr>
              <a:t>Customer Digital Journey · neo-capstone · Module 1 of 10 · your instructor is the customer — book time, ask questions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4A9A1"/>
                </a:solidFill>
                <a:latin typeface="Calibri"/>
              </a:rPr>
              <a:t>MODULE 1 · verification / verify-application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mission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07040" y="320040"/>
            <a:ext cx="1371600" cy="411480"/>
          </a:xfrm>
          <a:prstGeom prst="rect">
            <a:avLst/>
          </a:prstGeom>
          <a:solidFill>
            <a:srgbClr val="2EA9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9A1"/>
                </a:solidFill>
                <a:latin typeface="Calibri"/>
              </a:rPr>
              <a:t>Application Verification · Student Brief — the onboarding saga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THE ONE QUESTION YOUR MODULE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EA98D"/>
                </a:solidFill>
                <a:latin typeface="Calibri"/>
              </a:rPr>
              <a:t>Is this a valid, processable request for this specific offer?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51760"/>
            <a:ext cx="56692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900"/>
              </a:spcAft>
            </a:pPr>
            <a:r>
              <a:rPr sz="1250">
                <a:solidFill>
                  <a:srgbClr val="22302B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22302B"/>
                </a:solidFill>
                <a:latin typeface="Calibri"/>
              </a:rPr>
              <a:t>You are the first check every credit-card application meets. Everything downstream trusts you: what you let through, others must be able to process.</a:t>
            </a:r>
          </a:p>
          <a:p>
            <a:pPr algn="l">
              <a:lnSpc>
                <a:spcPct val="102000"/>
              </a:lnSpc>
              <a:spcAft>
                <a:spcPts val="900"/>
              </a:spcAft>
            </a:pPr>
            <a:r>
              <a:rPr sz="1250">
                <a:solidFill>
                  <a:srgbClr val="22302B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22302B"/>
                </a:solidFill>
                <a:latin typeface="Calibri"/>
              </a:rPr>
              <a:t>You do not design the form (the orchestrator owns the fields) and you do not decide who the bank wants as a customer (module 2 does). You verify what arrived.</a:t>
            </a:r>
          </a:p>
          <a:p>
            <a:pPr algn="l">
              <a:lnSpc>
                <a:spcPct val="102000"/>
              </a:lnSpc>
              <a:spcAft>
                <a:spcPts val="900"/>
              </a:spcAft>
            </a:pPr>
            <a:r>
              <a:rPr sz="1250">
                <a:solidFill>
                  <a:srgbClr val="22302B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22302B"/>
                </a:solidFill>
                <a:latin typeface="Calibri"/>
              </a:rPr>
              <a:t>Think: age, whether the product is really on sale, whether it is sold the way this applicant applied — and whether the form is complete at all.</a:t>
            </a:r>
          </a:p>
          <a:p>
            <a:pPr algn="l">
              <a:lnSpc>
                <a:spcPct val="102000"/>
              </a:lnSpc>
              <a:spcAft>
                <a:spcPts val="900"/>
              </a:spcAft>
            </a:pPr>
            <a:r>
              <a:rPr sz="1250">
                <a:solidFill>
                  <a:srgbClr val="22302B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22302B"/>
                </a:solidFill>
                <a:latin typeface="Calibri"/>
              </a:rPr>
              <a:t>In the real world</a:t>
            </a:r>
            <a:r>
              <a:rPr sz="1250" b="0" i="0">
                <a:solidFill>
                  <a:srgbClr val="22302B"/>
                </a:solidFill>
                <a:latin typeface="Calibri"/>
              </a:rPr>
              <a:t> this is the validation tier of Temenos Infinity or Backbase — the reason a banking app can point at the exact field to fix, instantly, before any paid check runs. Research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371600"/>
            <a:ext cx="5029200" cy="4480560"/>
          </a:xfrm>
          <a:prstGeom prst="roundRect">
            <a:avLst>
              <a:gd name="adj" fmla="val 3000"/>
            </a:avLst>
          </a:prstGeom>
          <a:solidFill>
            <a:srgbClr val="ECF6F1"/>
          </a:solidFill>
          <a:ln w="9525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15361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NON-NEGOTIABLES (PLATFORM RULES)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1828800"/>
            <a:ext cx="45720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150">
                <a:solidFill>
                  <a:srgbClr val="22302B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22302B"/>
                </a:solidFill>
                <a:latin typeface="Calibri"/>
              </a:rPr>
              <a:t>Only the orchestrator calls you: POST /api/v1/verification/execute → answer 202 immediately → decide off-thread → POST your outcome to /api/v1/callbacks.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150">
                <a:solidFill>
                  <a:srgbClr val="22302B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22302B"/>
                </a:solidFill>
                <a:latin typeface="Calibri"/>
              </a:rPr>
              <a:t>You receive the WHOLE application, every time. Use what you need, ignore the rest.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150">
                <a:solidFill>
                  <a:srgbClr val="22302B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22302B"/>
                </a:solidFill>
                <a:latin typeface="Calibri"/>
              </a:rPr>
              <a:t>Never call another module; never depend on another step's result.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150">
                <a:solidFill>
                  <a:srgbClr val="22302B"/>
                </a:solidFill>
                <a:latin typeface="Calibri"/>
              </a:rPr>
              <a:t>•  </a:t>
            </a:r>
            <a:r>
              <a:rPr sz="1150" b="1" i="0">
                <a:solidFill>
                  <a:srgbClr val="22302B"/>
                </a:solidFill>
                <a:latin typeface="Calibri"/>
              </a:rPr>
              <a:t>Never store the application payload — only applicationId.</a:t>
            </a:r>
            <a:r>
              <a:rPr sz="1150" b="0" i="0">
                <a:solidFill>
                  <a:srgbClr val="22302B"/>
                </a:solidFill>
                <a:latin typeface="Calibri"/>
              </a:rPr>
              <a:t> Your UI fetches applicant detail live through your own GET proxy.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150">
                <a:solidFill>
                  <a:srgbClr val="22302B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22302B"/>
                </a:solidFill>
                <a:latin typeface="Calibri"/>
              </a:rPr>
              <a:t>Big lists (search, boards) start EMPTY and never show more than 10 rows.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150">
                <a:solidFill>
                  <a:srgbClr val="22302B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22302B"/>
                </a:solidFill>
                <a:latin typeface="Calibri"/>
              </a:rPr>
              <a:t>The api-contract is LOCKED. Need something it doesn't have? Ask your instructor — do not invent.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150">
                <a:solidFill>
                  <a:srgbClr val="22302B"/>
                </a:solidFill>
                <a:latin typeface="Calibri"/>
              </a:rPr>
              <a:t>•  </a:t>
            </a:r>
            <a:r>
              <a:rPr sz="1150" b="1" i="0">
                <a:solidFill>
                  <a:srgbClr val="22302B"/>
                </a:solidFill>
                <a:latin typeface="Calibri"/>
              </a:rPr>
              <a:t>Every API you expose is idempotent</a:t>
            </a:r>
            <a:r>
              <a:rPr sz="1150" b="0" i="0">
                <a:solidFill>
                  <a:srgbClr val="22302B"/>
                </a:solidFill>
                <a:latin typeface="Calibri"/>
              </a:rPr>
              <a:t> — same request twice, same result once. This is a design principle, not an optimisation.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4A9A1"/>
                </a:solidFill>
                <a:latin typeface="Calibri"/>
              </a:rPr>
              <a:t>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contract in one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07040" y="320040"/>
            <a:ext cx="1371600" cy="411480"/>
          </a:xfrm>
          <a:prstGeom prst="rect">
            <a:avLst/>
          </a:prstGeom>
          <a:solidFill>
            <a:srgbClr val="2EA9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9A1"/>
                </a:solidFill>
                <a:latin typeface="Calibri"/>
              </a:rPr>
              <a:t>Application Verification · Student Brief — two calls, one gap in the middle</a:t>
            </a:r>
          </a:p>
        </p:txBody>
      </p:sp>
      <p:pic>
        <p:nvPicPr>
          <p:cNvPr id="7" name="Picture 6" descr="orchestrator-flow-stud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234440"/>
            <a:ext cx="9601200" cy="221660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377440" y="3633923"/>
            <a:ext cx="1463040" cy="256032"/>
          </a:xfrm>
          <a:prstGeom prst="rect">
            <a:avLst/>
          </a:prstGeom>
          <a:solidFill>
            <a:srgbClr val="14352C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outcome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3633923"/>
            <a:ext cx="1920240" cy="256032"/>
          </a:xfrm>
          <a:prstGeom prst="rect">
            <a:avLst/>
          </a:prstGeom>
          <a:solidFill>
            <a:srgbClr val="14352C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callback 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3633923"/>
            <a:ext cx="3200400" cy="256032"/>
          </a:xfrm>
          <a:prstGeom prst="rect">
            <a:avLst/>
          </a:prstGeom>
          <a:solidFill>
            <a:srgbClr val="14352C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journey effect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3889955"/>
            <a:ext cx="1463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PASSED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3889955"/>
            <a:ext cx="19202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completed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3889955"/>
            <a:ext cx="3200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next step runs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4145987"/>
            <a:ext cx="1463040" cy="256032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FAILED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4145987"/>
            <a:ext cx="1920240" cy="256032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rejected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4145987"/>
            <a:ext cx="3200400" cy="256032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journey ends REJECTED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0" y="4402019"/>
            <a:ext cx="1463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REVIEW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0" y="4402019"/>
            <a:ext cx="19202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application-manual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4402019"/>
            <a:ext cx="3200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302B"/>
                </a:solidFill>
                <a:latin typeface="Calibri"/>
              </a:rPr>
              <a:t>parks for a person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749491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B7791F"/>
                </a:solidFill>
                <a:latin typeface="Calibri"/>
              </a:rPr>
              <a:t>A fourth status exists: local-manual. Find out when it is yours to send.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4A9A1"/>
                </a:solidFill>
                <a:latin typeface="Calibri"/>
              </a:rPr>
              <a:t>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use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07040" y="320040"/>
            <a:ext cx="1371600" cy="411480"/>
          </a:xfrm>
          <a:prstGeom prst="rect">
            <a:avLst/>
          </a:prstGeom>
          <a:solidFill>
            <a:srgbClr val="2EA9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9A1"/>
                </a:solidFill>
                <a:latin typeface="Calibri"/>
              </a:rPr>
              <a:t>Application Verification · Student Brief — the scope; the depth of each one is yours to elicit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502920" cy="329184"/>
          </a:xfrm>
          <a:prstGeom prst="rect">
            <a:avLst/>
          </a:prstGeom>
          <a:solidFill>
            <a:srgbClr val="14352C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1325880"/>
            <a:ext cx="2743200" cy="329184"/>
          </a:xfrm>
          <a:prstGeom prst="rect">
            <a:avLst/>
          </a:prstGeom>
          <a:solidFill>
            <a:srgbClr val="14352C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use 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794759" y="1325880"/>
            <a:ext cx="5486400" cy="329184"/>
          </a:xfrm>
          <a:prstGeom prst="rect">
            <a:avLst/>
          </a:prstGeom>
          <a:solidFill>
            <a:srgbClr val="14352C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what it means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81160" y="1325880"/>
            <a:ext cx="2377440" cy="329184"/>
          </a:xfrm>
          <a:prstGeom prst="rect">
            <a:avLst/>
          </a:prstGeom>
          <a:solidFill>
            <a:srgbClr val="14352C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primary screen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655064"/>
            <a:ext cx="502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1655064"/>
            <a:ext cx="2743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Process Application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94759" y="1655064"/>
            <a:ext cx="5486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the front door — every /execute is acknowledged and stored; nothing else exists without 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81160" y="1655064"/>
            <a:ext cx="2377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— feeds every screen (row visible on the board)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130552"/>
            <a:ext cx="502920" cy="47548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2130552"/>
            <a:ext cx="2743200" cy="47548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Search Cases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94759" y="2130552"/>
            <a:ext cx="5486400" cy="47548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find a case by application id or applicant name — empty by default, never more than 10 rows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2130552"/>
            <a:ext cx="2377440" cy="47548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Verification Board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606040"/>
            <a:ext cx="502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02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" y="2606040"/>
            <a:ext cx="2743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Review Case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94759" y="2606040"/>
            <a:ext cx="5486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open one case — outcome + every check's result and every reason; the rule engine lives here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81160" y="2606040"/>
            <a:ext cx="2377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Case Detail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081528"/>
            <a:ext cx="502920" cy="47548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03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" y="3081528"/>
            <a:ext cx="2743200" cy="47548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View Applicant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94759" y="3081528"/>
            <a:ext cx="5486400" cy="47548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see the person behind a case, fetched live from the orchestrator — never stored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81160" y="3081528"/>
            <a:ext cx="2377440" cy="47548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Case Detail sidebar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557016"/>
            <a:ext cx="502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04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51560" y="3557016"/>
            <a:ext cx="2743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View Failure Patterns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94759" y="3557016"/>
            <a:ext cx="5486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which checks fail most often over a date range — is a rule too strict, or a form broken?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81160" y="3557016"/>
            <a:ext cx="2377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Failure Patterns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032504"/>
            <a:ext cx="502920" cy="47548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05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51560" y="4032504"/>
            <a:ext cx="2743200" cy="47548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Override Case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94759" y="4032504"/>
            <a:ext cx="5486400" cy="47548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a person corrects a wrong decision — with a reason, leaving a trace, resuming the journey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81160" y="4032504"/>
            <a:ext cx="2377440" cy="47548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Override modal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507992"/>
            <a:ext cx="502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06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1560" y="4507992"/>
            <a:ext cx="2743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Create Product Version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94759" y="4507992"/>
            <a:ext cx="5486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change a product's rules as data, never as a deploy — insert-only versions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81160" y="4507992"/>
            <a:ext cx="2377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Product Configuration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983479"/>
            <a:ext cx="502920" cy="47548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07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51560" y="4983479"/>
            <a:ext cx="2743200" cy="47548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View Version History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94759" y="4983479"/>
            <a:ext cx="5486400" cy="47548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every version a product ever had, so old decisions stay explainable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81160" y="4983479"/>
            <a:ext cx="2377440" cy="47548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Product Configuration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458967"/>
            <a:ext cx="502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7791F"/>
                </a:solidFill>
                <a:latin typeface="Calibri"/>
              </a:rPr>
              <a:t>08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51560" y="5458967"/>
            <a:ext cx="2743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7791F"/>
                </a:solidFill>
                <a:latin typeface="Calibri"/>
              </a:rPr>
              <a:t>Employment-status eligibility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94759" y="5458967"/>
            <a:ext cx="5486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7791F"/>
                </a:solidFill>
                <a:latin typeface="Calibri"/>
              </a:rPr>
              <a:t>CANDIDATE — a 4th rule; touch it only when 01–07 are complete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81160" y="5458967"/>
            <a:ext cx="2377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Case Detail (rule 4)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A98D"/>
                </a:solidFill>
                <a:latin typeface="Calibri"/>
              </a:rPr>
              <a:t>For every use case your customer holds detailed acceptance criteria. Your job: elicit them, agree them, complete them — a use case without agreed acceptance criteria is not started, let alone done.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4A9A1"/>
                </a:solidFill>
                <a:latin typeface="Calibri"/>
              </a:rPr>
              <a:t>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Build order — what depends on what, and where to start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07040" y="320040"/>
            <a:ext cx="1371600" cy="411480"/>
          </a:xfrm>
          <a:prstGeom prst="rect">
            <a:avLst/>
          </a:prstGeom>
          <a:solidFill>
            <a:srgbClr val="2EA9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9A1"/>
                </a:solidFill>
                <a:latin typeface="Calibri"/>
              </a:rPr>
              <a:t>Application Verification · Student Brief — the graph is the law; the order is advice. Deviate knowingly.</a:t>
            </a:r>
          </a:p>
        </p:txBody>
      </p:sp>
      <p:pic>
        <p:nvPicPr>
          <p:cNvPr id="7" name="Picture 6" descr="uc-dependenc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3040"/>
            <a:ext cx="6126480" cy="20708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12280" y="13716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SUGGESTED SEQUENCE — AND 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1664208"/>
            <a:ext cx="484632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50" b="1">
                <a:solidFill>
                  <a:srgbClr val="2EA98D"/>
                </a:solidFill>
                <a:latin typeface="Calibri"/>
              </a:rPr>
              <a:t>1  </a:t>
            </a:r>
            <a:r>
              <a:rPr sz="1050" b="1">
                <a:solidFill>
                  <a:srgbClr val="22302B"/>
                </a:solidFill>
                <a:latin typeface="Calibri"/>
              </a:rPr>
              <a:t>UC 00 · Process Application</a:t>
            </a:r>
            <a:r>
              <a:rPr sz="1050" b="0">
                <a:solidFill>
                  <a:srgbClr val="22302B"/>
                </a:solidFill>
                <a:latin typeface="Calibri"/>
              </a:rPr>
              <a:t> — the front door, first: 202 + one durable row keyed by applicationId (the template gives the endpoint; you make it durable and idempotent). Nothing else in this module exists without this row.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50" b="1">
                <a:solidFill>
                  <a:srgbClr val="2EA98D"/>
                </a:solidFill>
                <a:latin typeface="Calibri"/>
              </a:rPr>
              <a:t>2  </a:t>
            </a:r>
            <a:r>
              <a:rPr sz="1050" b="1">
                <a:solidFill>
                  <a:srgbClr val="22302B"/>
                </a:solidFill>
                <a:latin typeface="Calibri"/>
              </a:rPr>
              <a:t>UC 06 · Create Product Version</a:t>
            </a:r>
            <a:r>
              <a:rPr sz="1050" b="0">
                <a:solidFill>
                  <a:srgbClr val="22302B"/>
                </a:solidFill>
                <a:latin typeface="Calibri"/>
              </a:rPr>
              <a:t> — it all starts here: the engine's first line is "fetch the current config". Verify the Day-0 seed, own the entity and its read path — without a product row, no case can be decided, let alone reviewed.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50" b="1">
                <a:solidFill>
                  <a:srgbClr val="2EA98D"/>
                </a:solidFill>
                <a:latin typeface="Calibri"/>
              </a:rPr>
              <a:t>3  </a:t>
            </a:r>
            <a:r>
              <a:rPr sz="1050" b="1">
                <a:solidFill>
                  <a:srgbClr val="22302B"/>
                </a:solidFill>
                <a:latin typeface="Calibri"/>
              </a:rPr>
              <a:t>UC 02 · Review Case (the engine)</a:t>
            </a:r>
            <a:r>
              <a:rPr sz="1050" b="0">
                <a:solidFill>
                  <a:srgbClr val="22302B"/>
                </a:solidFill>
                <a:latin typeface="Calibri"/>
              </a:rPr>
              <a:t> — plain functions over the application + the seeded ProductConfig; the module's heart.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50" b="1">
                <a:solidFill>
                  <a:srgbClr val="2EA98D"/>
                </a:solidFill>
                <a:latin typeface="Calibri"/>
              </a:rPr>
              <a:t>4  </a:t>
            </a:r>
            <a:r>
              <a:rPr sz="1050" b="1">
                <a:solidFill>
                  <a:srgbClr val="22302B"/>
                </a:solidFill>
                <a:latin typeface="Calibri"/>
              </a:rPr>
              <a:t>UC 01 · Search Cases</a:t>
            </a:r>
            <a:r>
              <a:rPr sz="1050" b="0">
                <a:solidFill>
                  <a:srgbClr val="22302B"/>
                </a:solidFill>
                <a:latin typeface="Calibri"/>
              </a:rPr>
              <a:t> — the screen every flow opens from.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50" b="1">
                <a:solidFill>
                  <a:srgbClr val="2EA98D"/>
                </a:solidFill>
                <a:latin typeface="Calibri"/>
              </a:rPr>
              <a:t>5  </a:t>
            </a:r>
            <a:r>
              <a:rPr sz="1050" b="1">
                <a:solidFill>
                  <a:srgbClr val="22302B"/>
                </a:solidFill>
                <a:latin typeface="Calibri"/>
              </a:rPr>
              <a:t>UC 03 · View Applicant</a:t>
            </a:r>
            <a:r>
              <a:rPr sz="1050" b="0">
                <a:solidFill>
                  <a:srgbClr val="22302B"/>
                </a:solidFill>
                <a:latin typeface="Calibri"/>
              </a:rPr>
              <a:t> — proves the no-payload rule and the proxy early.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50" b="1">
                <a:solidFill>
                  <a:srgbClr val="2EA98D"/>
                </a:solidFill>
                <a:latin typeface="Calibri"/>
              </a:rPr>
              <a:t>6  </a:t>
            </a:r>
            <a:r>
              <a:rPr sz="1050" b="1">
                <a:solidFill>
                  <a:srgbClr val="22302B"/>
                </a:solidFill>
                <a:latin typeface="Calibri"/>
              </a:rPr>
              <a:t>UC 05 · Override Case</a:t>
            </a:r>
            <a:r>
              <a:rPr sz="1050" b="0">
                <a:solidFill>
                  <a:srgbClr val="22302B"/>
                </a:solidFill>
                <a:latin typeface="Calibri"/>
              </a:rPr>
              <a:t> — first write path and first callback; needs 02's rows.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50" b="1">
                <a:solidFill>
                  <a:srgbClr val="2EA98D"/>
                </a:solidFill>
                <a:latin typeface="Calibri"/>
              </a:rPr>
              <a:t>7  </a:t>
            </a:r>
            <a:r>
              <a:rPr sz="1050" b="1">
                <a:solidFill>
                  <a:srgbClr val="22302B"/>
                </a:solidFill>
                <a:latin typeface="Calibri"/>
              </a:rPr>
              <a:t>UC 04 · Failure Patterns</a:t>
            </a:r>
            <a:r>
              <a:rPr sz="1050" b="0">
                <a:solidFill>
                  <a:srgbClr val="22302B"/>
                </a:solidFill>
                <a:latin typeface="Calibri"/>
              </a:rPr>
              <a:t> — read-only aggregate; easy win once decided rows exist.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50" b="1">
                <a:solidFill>
                  <a:srgbClr val="2EA98D"/>
                </a:solidFill>
                <a:latin typeface="Calibri"/>
              </a:rPr>
              <a:t>8  </a:t>
            </a:r>
            <a:r>
              <a:rPr sz="1050" b="1">
                <a:solidFill>
                  <a:srgbClr val="22302B"/>
                </a:solidFill>
                <a:latin typeface="Calibri"/>
              </a:rPr>
              <a:t>UC 07 · Version History</a:t>
            </a:r>
            <a:r>
              <a:rPr sz="1050" b="0">
                <a:solidFill>
                  <a:srgbClr val="22302B"/>
                </a:solidFill>
                <a:latin typeface="Calibri"/>
              </a:rPr>
              <a:t> — closes the config/audit story 06 opened.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50" b="1">
                <a:solidFill>
                  <a:srgbClr val="2EA98D"/>
                </a:solidFill>
                <a:latin typeface="Calibri"/>
              </a:rPr>
              <a:t>9  </a:t>
            </a:r>
            <a:r>
              <a:rPr sz="1050" b="1">
                <a:solidFill>
                  <a:srgbClr val="22302B"/>
                </a:solidFill>
                <a:latin typeface="Calibri"/>
              </a:rPr>
              <a:t>UC 08 · Candidate</a:t>
            </a:r>
            <a:r>
              <a:rPr sz="1050" b="0">
                <a:solidFill>
                  <a:srgbClr val="22302B"/>
                </a:solidFill>
                <a:latin typeface="Calibri"/>
              </a:rPr>
              <a:t> — only when every AC above is green.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4A9A1"/>
                </a:solidFill>
                <a:latin typeface="Calibri"/>
              </a:rPr>
              <a:t>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Entity design comes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07040" y="320040"/>
            <a:ext cx="1371600" cy="411480"/>
          </a:xfrm>
          <a:prstGeom prst="rect">
            <a:avLst/>
          </a:prstGeom>
          <a:solidFill>
            <a:srgbClr val="2EA9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9A1"/>
                </a:solidFill>
                <a:latin typeface="Calibri"/>
              </a:rPr>
              <a:t>Application Verification · Student Brief — agree the model on Day 0; the ER diagram is part of your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1206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150">
                <a:solidFill>
                  <a:srgbClr val="22302B"/>
                </a:solidFill>
                <a:latin typeface="Calibri"/>
              </a:rPr>
              <a:t>•  </a:t>
            </a:r>
            <a:r>
              <a:rPr sz="1150" b="1" i="0">
                <a:solidFill>
                  <a:srgbClr val="22302B"/>
                </a:solidFill>
                <a:latin typeface="Calibri"/>
              </a:rPr>
              <a:t>One of your very FIRST tasks is entity design.</a:t>
            </a:r>
            <a:r>
              <a:rPr sz="1150" b="0" i="0">
                <a:solidFill>
                  <a:srgbClr val="22302B"/>
                </a:solidFill>
                <a:latin typeface="Calibri"/>
              </a:rPr>
              <a:t> Agree the data model as a whole team before anyone writes code — the biggest problem teams have is starting with a model that is too complicated.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150">
                <a:solidFill>
                  <a:srgbClr val="22302B"/>
                </a:solidFill>
                <a:latin typeface="Calibri"/>
              </a:rPr>
              <a:t>•  </a:t>
            </a:r>
            <a:r>
              <a:rPr sz="1150" b="1" i="0">
                <a:solidFill>
                  <a:srgbClr val="22302B"/>
                </a:solidFill>
                <a:latin typeface="Calibri"/>
              </a:rPr>
              <a:t>Suggested key entities:</a:t>
            </a:r>
            <a:r>
              <a:rPr sz="1150" b="0" i="0">
                <a:solidFill>
                  <a:srgbClr val="22302B"/>
                </a:solidFill>
                <a:latin typeface="Calibri"/>
              </a:rPr>
              <a:t> </a:t>
            </a:r>
            <a:r>
              <a:rPr sz="1150" b="1" i="0">
                <a:solidFill>
                  <a:srgbClr val="22302B"/>
                </a:solidFill>
                <a:latin typeface="Calibri"/>
              </a:rPr>
              <a:t>VerificationRecord</a:t>
            </a:r>
            <a:r>
              <a:rPr sz="1150" b="0" i="0">
                <a:solidFill>
                  <a:srgbClr val="22302B"/>
                </a:solidFill>
                <a:latin typeface="Calibri"/>
              </a:rPr>
              <a:t> — one row per applicationId (unique) · </a:t>
            </a:r>
            <a:r>
              <a:rPr sz="1150" b="1" i="0">
                <a:solidFill>
                  <a:srgbClr val="22302B"/>
                </a:solidFill>
                <a:latin typeface="Calibri"/>
              </a:rPr>
              <a:t>ProductConfig</a:t>
            </a:r>
            <a:r>
              <a:rPr sz="1150" b="0" i="0">
                <a:solidFill>
                  <a:srgbClr val="22302B"/>
                </a:solidFill>
                <a:latin typeface="Calibri"/>
              </a:rPr>
              <a:t> — insert-only, versioned product terms; the current version is the highest per product · </a:t>
            </a:r>
            <a:r>
              <a:rPr sz="1150" b="1" i="0">
                <a:solidFill>
                  <a:srgbClr val="22302B"/>
                </a:solidFill>
                <a:latin typeface="Calibri"/>
              </a:rPr>
              <a:t>OverrideLog</a:t>
            </a:r>
            <a:r>
              <a:rPr sz="1150" b="0" i="0">
                <a:solidFill>
                  <a:srgbClr val="22302B"/>
                </a:solidFill>
                <a:latin typeface="Calibri"/>
              </a:rPr>
              <a:t> — audit trail; one row per manual override, none ever deleted. A starting point, not a mandate — be ready to defend deviations to your customer.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150">
                <a:solidFill>
                  <a:srgbClr val="22302B"/>
                </a:solidFill>
                <a:latin typeface="Calibri"/>
              </a:rPr>
              <a:t>•  </a:t>
            </a:r>
            <a:r>
              <a:rPr sz="1150" b="1" i="0">
                <a:solidFill>
                  <a:srgbClr val="22302B"/>
                </a:solidFill>
                <a:latin typeface="Calibri"/>
              </a:rPr>
              <a:t>Draw the ER diagram and keep it in your documentation</a:t>
            </a:r>
            <a:r>
              <a:rPr sz="1150" b="0" i="0">
                <a:solidFill>
                  <a:srgbClr val="22302B"/>
                </a:solidFill>
                <a:latin typeface="Calibri"/>
              </a:rPr>
              <a:t> (docs/) — updated in the same PR as any schema change. The suggestion on the right is the shape to beat.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150">
                <a:solidFill>
                  <a:srgbClr val="22302B"/>
                </a:solidFill>
                <a:latin typeface="Calibri"/>
              </a:rPr>
              <a:t>•  </a:t>
            </a:r>
            <a:r>
              <a:rPr sz="1150" b="1" i="0">
                <a:solidFill>
                  <a:srgbClr val="22302B"/>
                </a:solidFill>
                <a:latin typeface="Calibri"/>
              </a:rPr>
              <a:t>Every incoming request from the orchestrator is persisted.</a:t>
            </a:r>
            <a:r>
              <a:rPr sz="1150" b="0" i="0">
                <a:solidFill>
                  <a:srgbClr val="22302B"/>
                </a:solidFill>
                <a:latin typeface="Calibri"/>
              </a:rPr>
              <a:t> Each /execute stores exactly ONE row, keyed by applicationId — and that id is the ONLY applicant data in your schema. The application payload itself is NEVER stored.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3258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E736B"/>
                </a:solidFill>
                <a:latin typeface="Calibri"/>
              </a:rPr>
              <a:t>SUGGESTED ER — STARTING POINT</a:t>
            </a:r>
          </a:p>
        </p:txBody>
      </p:sp>
      <p:pic>
        <p:nvPicPr>
          <p:cNvPr id="9" name="Picture 8" descr="er-suggest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00200"/>
            <a:ext cx="5715000" cy="41760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4A9A1"/>
                </a:solidFill>
                <a:latin typeface="Calibri"/>
              </a:rPr>
              <a:t>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shape of what you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07040" y="320040"/>
            <a:ext cx="1371600" cy="411480"/>
          </a:xfrm>
          <a:prstGeom prst="rect">
            <a:avLst/>
          </a:prstGeom>
          <a:solidFill>
            <a:srgbClr val="2EA9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9A1"/>
                </a:solidFill>
                <a:latin typeface="Calibri"/>
              </a:rPr>
              <a:t>Application Verification · Student Brief — components and the calls between them; your names may differ, the shape should not</a:t>
            </a:r>
          </a:p>
        </p:txBody>
      </p:sp>
      <p:pic>
        <p:nvPicPr>
          <p:cNvPr id="7" name="Picture 6" descr="compon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11064240" cy="24414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133111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E736B"/>
                </a:solidFill>
                <a:latin typeface="Calibri"/>
              </a:rPr>
              <a:t>One Spring Boot container, one schema, no external provider — the engine and the versioned ProductConfig are the whole story. The intake path (UC 00) commits the row before the 202; the worker decides after, and everything the UI shows comes off that row.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4A9A1"/>
                </a:solidFill>
                <a:latin typeface="Calibri"/>
              </a:rPr>
              <a:t>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How it is used — steps per use case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07040" y="320040"/>
            <a:ext cx="1371600" cy="411480"/>
          </a:xfrm>
          <a:prstGeom prst="rect">
            <a:avLst/>
          </a:prstGeom>
          <a:solidFill>
            <a:srgbClr val="2EA9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9A1"/>
                </a:solidFill>
                <a:latin typeface="Calibri"/>
              </a:rPr>
              <a:t>Application Verification · Student Brief — your UI may look different, the JOB each screen does may not</a:t>
            </a:r>
          </a:p>
        </p:txBody>
      </p:sp>
      <p:pic>
        <p:nvPicPr>
          <p:cNvPr id="7" name="Picture 6" descr="m01-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99032"/>
            <a:ext cx="2651760" cy="166584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383280" y="1325880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A98D"/>
                </a:solidFill>
                <a:latin typeface="Calibri"/>
              </a:rPr>
              <a:t>UC 00 · Process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636776"/>
            <a:ext cx="27889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50">
                <a:solidFill>
                  <a:srgbClr val="22302B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5E736B"/>
                </a:solidFill>
                <a:latin typeface="Calibri"/>
              </a:rPr>
              <a:t>1  </a:t>
            </a:r>
            <a:r>
              <a:rPr sz="1050" b="0" i="0">
                <a:solidFill>
                  <a:srgbClr val="22302B"/>
                </a:solidFill>
                <a:latin typeface="Calibri"/>
              </a:rPr>
              <a:t>No human involved — the orchestrator POSTs, the 202 goes back instantly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50">
                <a:solidFill>
                  <a:srgbClr val="22302B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5E736B"/>
                </a:solidFill>
                <a:latin typeface="Calibri"/>
              </a:rPr>
              <a:t>2  </a:t>
            </a:r>
            <a:r>
              <a:rPr sz="1050" b="0" i="0">
                <a:solidFill>
                  <a:srgbClr val="22302B"/>
                </a:solidFill>
                <a:latin typeface="Calibri"/>
              </a:rPr>
              <a:t>The row exists before the ack; a crash after it loses nothing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50">
                <a:solidFill>
                  <a:srgbClr val="22302B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5E736B"/>
                </a:solidFill>
                <a:latin typeface="Calibri"/>
              </a:rPr>
              <a:t>3  </a:t>
            </a:r>
            <a:r>
              <a:rPr sz="1050" b="0" i="0">
                <a:solidFill>
                  <a:srgbClr val="22302B"/>
                </a:solidFill>
                <a:latin typeface="Calibri"/>
              </a:rPr>
              <a:t>Search the id on the board: the case shows as in-progress until the engine decides</a:t>
            </a:r>
          </a:p>
        </p:txBody>
      </p:sp>
      <p:pic>
        <p:nvPicPr>
          <p:cNvPr id="10" name="Picture 9" descr="m01-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79" y="1399032"/>
            <a:ext cx="2651760" cy="166584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89719" y="1325880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A98D"/>
                </a:solidFill>
                <a:latin typeface="Calibri"/>
              </a:rPr>
              <a:t>UC 01 · Search Cases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19" y="1636776"/>
            <a:ext cx="27889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50">
                <a:solidFill>
                  <a:srgbClr val="22302B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5E736B"/>
                </a:solidFill>
                <a:latin typeface="Calibri"/>
              </a:rPr>
              <a:t>1  </a:t>
            </a:r>
            <a:r>
              <a:rPr sz="1050" b="0" i="0">
                <a:solidFill>
                  <a:srgbClr val="22302B"/>
                </a:solidFill>
                <a:latin typeface="Calibri"/>
              </a:rPr>
              <a:t>Type a name or application id — the board is empty until you do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50">
                <a:solidFill>
                  <a:srgbClr val="22302B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5E736B"/>
                </a:solidFill>
                <a:latin typeface="Calibri"/>
              </a:rPr>
              <a:t>2  </a:t>
            </a:r>
            <a:r>
              <a:rPr sz="1050" b="0" i="0">
                <a:solidFill>
                  <a:srgbClr val="22302B"/>
                </a:solidFill>
                <a:latin typeface="Calibri"/>
              </a:rPr>
              <a:t>At most 10 rows appear, newest first; refine if flagged "more"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50">
                <a:solidFill>
                  <a:srgbClr val="22302B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5E736B"/>
                </a:solidFill>
                <a:latin typeface="Calibri"/>
              </a:rPr>
              <a:t>3  </a:t>
            </a:r>
            <a:r>
              <a:rPr sz="1050" b="0" i="0">
                <a:solidFill>
                  <a:srgbClr val="22302B"/>
                </a:solidFill>
                <a:latin typeface="Calibri"/>
              </a:rPr>
              <a:t>Click a row → Case Detail</a:t>
            </a:r>
          </a:p>
        </p:txBody>
      </p:sp>
      <p:pic>
        <p:nvPicPr>
          <p:cNvPr id="13" name="Picture 12" descr="m01-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13632"/>
            <a:ext cx="2651760" cy="16658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83280" y="3840480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A98D"/>
                </a:solidFill>
                <a:latin typeface="Calibri"/>
              </a:rPr>
              <a:t>UC 02 · Review 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4151376"/>
            <a:ext cx="27889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50">
                <a:solidFill>
                  <a:srgbClr val="22302B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5E736B"/>
                </a:solidFill>
                <a:latin typeface="Calibri"/>
              </a:rPr>
              <a:t>1  </a:t>
            </a:r>
            <a:r>
              <a:rPr sz="1050" b="0" i="0">
                <a:solidFill>
                  <a:srgbClr val="22302B"/>
                </a:solidFill>
                <a:latin typeface="Calibri"/>
              </a:rPr>
              <a:t>Open a case from the board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50">
                <a:solidFill>
                  <a:srgbClr val="22302B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5E736B"/>
                </a:solidFill>
                <a:latin typeface="Calibri"/>
              </a:rPr>
              <a:t>2  </a:t>
            </a:r>
            <a:r>
              <a:rPr sz="1050" b="0" i="0">
                <a:solidFill>
                  <a:srgbClr val="22302B"/>
                </a:solidFill>
                <a:latin typeface="Calibri"/>
              </a:rPr>
              <a:t>Read the outcome badge + one card per check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50">
                <a:solidFill>
                  <a:srgbClr val="22302B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5E736B"/>
                </a:solidFill>
                <a:latin typeface="Calibri"/>
              </a:rPr>
              <a:t>3  </a:t>
            </a:r>
            <a:r>
              <a:rPr sz="1050" b="0" i="0">
                <a:solidFill>
                  <a:srgbClr val="22302B"/>
                </a:solidFill>
                <a:latin typeface="Calibri"/>
              </a:rPr>
              <a:t>Every reason is on screen — never just the first</a:t>
            </a:r>
          </a:p>
        </p:txBody>
      </p:sp>
      <p:pic>
        <p:nvPicPr>
          <p:cNvPr id="16" name="Picture 15" descr="m01-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79" y="3913632"/>
            <a:ext cx="2651760" cy="166584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189719" y="3840480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A98D"/>
                </a:solidFill>
                <a:latin typeface="Calibri"/>
              </a:rPr>
              <a:t>UC 03 · View Applicant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19" y="4151376"/>
            <a:ext cx="27889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50">
                <a:solidFill>
                  <a:srgbClr val="22302B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5E736B"/>
                </a:solidFill>
                <a:latin typeface="Calibri"/>
              </a:rPr>
              <a:t>1  </a:t>
            </a:r>
            <a:r>
              <a:rPr sz="1050" b="0" i="0">
                <a:solidFill>
                  <a:srgbClr val="22302B"/>
                </a:solidFill>
                <a:latin typeface="Calibri"/>
              </a:rPr>
              <a:t>Open any case — the sidebar loads the applicant live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50">
                <a:solidFill>
                  <a:srgbClr val="22302B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5E736B"/>
                </a:solidFill>
                <a:latin typeface="Calibri"/>
              </a:rPr>
              <a:t>2  </a:t>
            </a:r>
            <a:r>
              <a:rPr sz="1050" b="0" i="0">
                <a:solidFill>
                  <a:srgbClr val="22302B"/>
                </a:solidFill>
                <a:latin typeface="Calibri"/>
              </a:rPr>
              <a:t>Orchestrator down? The case still renders; the sidebar degrades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50">
                <a:solidFill>
                  <a:srgbClr val="22302B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5E736B"/>
                </a:solidFill>
                <a:latin typeface="Calibri"/>
              </a:rPr>
              <a:t>3  </a:t>
            </a:r>
            <a:r>
              <a:rPr sz="1050" b="0" i="0">
                <a:solidFill>
                  <a:srgbClr val="22302B"/>
                </a:solidFill>
                <a:latin typeface="Calibri"/>
              </a:rPr>
              <a:t>Nothing applicant-related is ever stored locally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4A9A1"/>
                </a:solidFill>
                <a:latin typeface="Calibri"/>
              </a:rPr>
              <a:t>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How it is used — steps per use case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07040" y="320040"/>
            <a:ext cx="1371600" cy="411480"/>
          </a:xfrm>
          <a:prstGeom prst="rect">
            <a:avLst/>
          </a:prstGeom>
          <a:solidFill>
            <a:srgbClr val="2EA9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9A1"/>
                </a:solidFill>
                <a:latin typeface="Calibri"/>
              </a:rPr>
              <a:t>Application Verification · Student Brief — your UI may look different, the JOB each screen does may not</a:t>
            </a:r>
          </a:p>
        </p:txBody>
      </p:sp>
      <p:pic>
        <p:nvPicPr>
          <p:cNvPr id="7" name="Picture 6" descr="m01-patte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99032"/>
            <a:ext cx="2651760" cy="166584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383280" y="1325880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A98D"/>
                </a:solidFill>
                <a:latin typeface="Calibri"/>
              </a:rPr>
              <a:t>UC 04 · View Failure Patterns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636776"/>
            <a:ext cx="27889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50">
                <a:solidFill>
                  <a:srgbClr val="22302B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5E736B"/>
                </a:solidFill>
                <a:latin typeface="Calibri"/>
              </a:rPr>
              <a:t>1  </a:t>
            </a:r>
            <a:r>
              <a:rPr sz="1050" b="0" i="0">
                <a:solidFill>
                  <a:srgbClr val="22302B"/>
                </a:solidFill>
                <a:latin typeface="Calibri"/>
              </a:rPr>
              <a:t>Pick a from/to range and apply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50">
                <a:solidFill>
                  <a:srgbClr val="22302B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5E736B"/>
                </a:solidFill>
                <a:latin typeface="Calibri"/>
              </a:rPr>
              <a:t>2  </a:t>
            </a:r>
            <a:r>
              <a:rPr sz="1050" b="0" i="0">
                <a:solidFill>
                  <a:srgbClr val="22302B"/>
                </a:solidFill>
                <a:latin typeface="Calibri"/>
              </a:rPr>
              <a:t>Read the ranked chart — failures vs review flags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50">
                <a:solidFill>
                  <a:srgbClr val="22302B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5E736B"/>
                </a:solidFill>
                <a:latin typeface="Calibri"/>
              </a:rPr>
              <a:t>3  </a:t>
            </a:r>
            <a:r>
              <a:rPr sz="1050" b="0" i="0">
                <a:solidFill>
                  <a:srgbClr val="22302B"/>
                </a:solidFill>
                <a:latin typeface="Calibri"/>
              </a:rPr>
              <a:t>A spike in one code = a rule too strict or a form broken</a:t>
            </a:r>
          </a:p>
        </p:txBody>
      </p:sp>
      <p:pic>
        <p:nvPicPr>
          <p:cNvPr id="10" name="Picture 9" descr="m01-overr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79" y="1399032"/>
            <a:ext cx="2651760" cy="166584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89719" y="1325880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A98D"/>
                </a:solidFill>
                <a:latin typeface="Calibri"/>
              </a:rPr>
              <a:t>UC 05 · Override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19" y="1636776"/>
            <a:ext cx="27889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50">
                <a:solidFill>
                  <a:srgbClr val="22302B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5E736B"/>
                </a:solidFill>
                <a:latin typeface="Calibri"/>
              </a:rPr>
              <a:t>1  </a:t>
            </a:r>
            <a:r>
              <a:rPr sz="1050" b="0" i="0">
                <a:solidFill>
                  <a:srgbClr val="22302B"/>
                </a:solidFill>
                <a:latin typeface="Calibri"/>
              </a:rPr>
              <a:t>Open the case → "Override decision…"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50">
                <a:solidFill>
                  <a:srgbClr val="22302B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5E736B"/>
                </a:solidFill>
                <a:latin typeface="Calibri"/>
              </a:rPr>
              <a:t>2  </a:t>
            </a:r>
            <a:r>
              <a:rPr sz="1050" b="0" i="0">
                <a:solidFill>
                  <a:srgbClr val="22302B"/>
                </a:solidFill>
                <a:latin typeface="Calibri"/>
              </a:rPr>
              <a:t>Pick the new outcome; reason + operator are mandatory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50">
                <a:solidFill>
                  <a:srgbClr val="22302B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5E736B"/>
                </a:solidFill>
                <a:latin typeface="Calibri"/>
              </a:rPr>
              <a:t>3  </a:t>
            </a:r>
            <a:r>
              <a:rPr sz="1050" b="0" i="0">
                <a:solidFill>
                  <a:srgbClr val="22302B"/>
                </a:solidFill>
                <a:latin typeface="Calibri"/>
              </a:rPr>
              <a:t>Confirm — the trace is permanent, the journey resumes</a:t>
            </a:r>
          </a:p>
        </p:txBody>
      </p:sp>
      <p:pic>
        <p:nvPicPr>
          <p:cNvPr id="13" name="Picture 12" descr="m01-produc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913632"/>
            <a:ext cx="2651760" cy="16658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83280" y="3840480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A98D"/>
                </a:solidFill>
                <a:latin typeface="Calibri"/>
              </a:rPr>
              <a:t>UC 06 · Create Product Version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4151376"/>
            <a:ext cx="27889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50">
                <a:solidFill>
                  <a:srgbClr val="22302B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5E736B"/>
                </a:solidFill>
                <a:latin typeface="Calibri"/>
              </a:rPr>
              <a:t>1  </a:t>
            </a:r>
            <a:r>
              <a:rPr sz="1050" b="0" i="0">
                <a:solidFill>
                  <a:srgbClr val="22302B"/>
                </a:solidFill>
                <a:latin typeface="Calibri"/>
              </a:rPr>
              <a:t>Product Configuration → "New version…"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50">
                <a:solidFill>
                  <a:srgbClr val="22302B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5E736B"/>
                </a:solidFill>
                <a:latin typeface="Calibri"/>
              </a:rPr>
              <a:t>2  </a:t>
            </a:r>
            <a:r>
              <a:rPr sz="1050" b="0" i="0">
                <a:solidFill>
                  <a:srgbClr val="22302B"/>
                </a:solidFill>
                <a:latin typeface="Calibri"/>
              </a:rPr>
              <a:t>Change thresholds / channels / active — save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50">
                <a:solidFill>
                  <a:srgbClr val="22302B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5E736B"/>
                </a:solidFill>
                <a:latin typeface="Calibri"/>
              </a:rPr>
              <a:t>3  </a:t>
            </a:r>
            <a:r>
              <a:rPr sz="1050" b="0" i="0">
                <a:solidFill>
                  <a:srgbClr val="22302B"/>
                </a:solidFill>
                <a:latin typeface="Calibri"/>
              </a:rPr>
              <a:t>A NEW version appears; nothing old is edited</a:t>
            </a:r>
          </a:p>
        </p:txBody>
      </p:sp>
      <p:pic>
        <p:nvPicPr>
          <p:cNvPr id="16" name="Picture 15" descr="m01-produc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79" y="3913632"/>
            <a:ext cx="2651760" cy="166584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189719" y="3840480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A98D"/>
                </a:solidFill>
                <a:latin typeface="Calibri"/>
              </a:rPr>
              <a:t>UC 07 · View Version 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19" y="4151376"/>
            <a:ext cx="27889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50">
                <a:solidFill>
                  <a:srgbClr val="22302B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5E736B"/>
                </a:solidFill>
                <a:latin typeface="Calibri"/>
              </a:rPr>
              <a:t>1  </a:t>
            </a:r>
            <a:r>
              <a:rPr sz="1050" b="0" i="0">
                <a:solidFill>
                  <a:srgbClr val="22302B"/>
                </a:solidFill>
                <a:latin typeface="Calibri"/>
              </a:rPr>
              <a:t>Select a product — its full history loads beside it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50">
                <a:solidFill>
                  <a:srgbClr val="22302B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5E736B"/>
                </a:solidFill>
                <a:latin typeface="Calibri"/>
              </a:rPr>
              <a:t>2  </a:t>
            </a:r>
            <a:r>
              <a:rPr sz="1050" b="0" i="0">
                <a:solidFill>
                  <a:srgbClr val="22302B"/>
                </a:solidFill>
                <a:latin typeface="Calibri"/>
              </a:rPr>
              <a:t>The current version is marked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50">
                <a:solidFill>
                  <a:srgbClr val="22302B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5E736B"/>
                </a:solidFill>
                <a:latin typeface="Calibri"/>
              </a:rPr>
              <a:t>3  </a:t>
            </a:r>
            <a:r>
              <a:rPr sz="1050" b="0" i="0">
                <a:solidFill>
                  <a:srgbClr val="22302B"/>
                </a:solidFill>
                <a:latin typeface="Calibri"/>
              </a:rPr>
              <a:t>Old cases still point at the version that decided them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4A9A1"/>
                </a:solidFill>
                <a:latin typeface="Calibri"/>
              </a:rPr>
              <a:t>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Expected state transitions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07040" y="320040"/>
            <a:ext cx="1371600" cy="411480"/>
          </a:xfrm>
          <a:prstGeom prst="rect">
            <a:avLst/>
          </a:prstGeom>
          <a:solidFill>
            <a:srgbClr val="2EA9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9A1"/>
                </a:solidFill>
                <a:latin typeface="Calibri"/>
              </a:rPr>
              <a:t>Application Verification · Student Brief — outcomes are terminal for the machine</a:t>
            </a:r>
          </a:p>
        </p:txBody>
      </p:sp>
      <p:pic>
        <p:nvPicPr>
          <p:cNvPr id="7" name="Picture 6" descr="case-st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313" y="1371600"/>
            <a:ext cx="9190892" cy="2743200"/>
          </a:xfrm>
          <a:prstGeom prst="rect">
            <a:avLst/>
          </a:prstGeom>
        </p:spPr>
      </p:pic>
      <p:pic>
        <p:nvPicPr>
          <p:cNvPr id="8" name="Picture 7" descr="config-stat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206240"/>
            <a:ext cx="4662696" cy="1463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66560" y="4206240"/>
            <a:ext cx="48463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1">
                <a:solidFill>
                  <a:srgbClr val="22302B"/>
                </a:solidFill>
                <a:latin typeface="Calibri"/>
              </a:rPr>
              <a:t>Dashed amber = operator override — the ONLY way an outcome ever changes.</a:t>
            </a:r>
            <a:r>
              <a:rPr sz="1050" b="0" i="1">
                <a:solidFill>
                  <a:srgbClr val="22302B"/>
                </a:solidFill>
                <a:latin typeface="Calibri"/>
              </a:rPr>
              <a:t> What must an override always carry, and what trace must it leave? What happens to a journey that was parked? A repeated /execute for the same applicationId must NOT create a second row or a second decision. Prove it.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22302B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050" b="1" i="1">
                <a:solidFill>
                  <a:srgbClr val="22302B"/>
                </a:solidFill>
                <a:latin typeface="Calibri"/>
              </a:rPr>
              <a:t>Rules change on Tuesday; an auditor asks on Friday why Monday's case failed.</a:t>
            </a:r>
            <a:r>
              <a:rPr sz="1050" b="0" i="1">
                <a:solidFill>
                  <a:srgbClr val="22302B"/>
                </a:solidFill>
                <a:latin typeface="Calibri"/>
              </a:rPr>
              <a:t> What must your case record remember for the old answer to still be explainable? And what does a product being taken off sale do — to new applications, and to old cases?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4A9A1"/>
                </a:solidFill>
                <a:latin typeface="Calibri"/>
              </a:rPr>
              <a:t>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 are done when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07040" y="320040"/>
            <a:ext cx="1371600" cy="411480"/>
          </a:xfrm>
          <a:prstGeom prst="rect">
            <a:avLst/>
          </a:prstGeom>
          <a:solidFill>
            <a:srgbClr val="2EA9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9A1"/>
                </a:solidFill>
                <a:latin typeface="Calibri"/>
              </a:rPr>
              <a:t>Application Verification · Student Brief — an acceptance criterion that fails beats an extra that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8813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100"/>
              </a:spcAft>
            </a:pPr>
            <a:r>
              <a:rPr sz="1300">
                <a:solidFill>
                  <a:srgbClr val="22302B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22302B"/>
                </a:solidFill>
                <a:latin typeface="Calibri"/>
              </a:rPr>
              <a:t>Every use case's acceptance criteria are complete</a:t>
            </a:r>
            <a:r>
              <a:rPr sz="1300" b="0" i="0">
                <a:solidFill>
                  <a:srgbClr val="22302B"/>
                </a:solidFill>
                <a:latin typeface="Calibri"/>
              </a:rPr>
              <a:t> — elicited from your customer, agreed, and verified per case against the running app. This is THE definition of done; nothing below substitutes for it.</a:t>
            </a:r>
          </a:p>
          <a:p>
            <a:pPr algn="l">
              <a:lnSpc>
                <a:spcPct val="102000"/>
              </a:lnSpc>
              <a:spcAft>
                <a:spcPts val="1100"/>
              </a:spcAft>
            </a:pPr>
            <a:r>
              <a:rPr sz="1300">
                <a:solidFill>
                  <a:srgbClr val="22302B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22302B"/>
                </a:solidFill>
                <a:latin typeface="Calibri"/>
              </a:rPr>
              <a:t>The orchestrator's contract check passes</a:t>
            </a:r>
            <a:r>
              <a:rPr sz="1300" b="0" i="0">
                <a:solidFill>
                  <a:srgbClr val="22302B"/>
                </a:solidFill>
                <a:latin typeface="Calibri"/>
              </a:rPr>
              <a:t> against your running container — 202 then callback, statuses mapped exactly as the table on slide 3, and a repeated /execute changes nothing.</a:t>
            </a:r>
          </a:p>
          <a:p>
            <a:pPr algn="l">
              <a:lnSpc>
                <a:spcPct val="102000"/>
              </a:lnSpc>
              <a:spcAft>
                <a:spcPts val="1100"/>
              </a:spcAft>
            </a:pPr>
            <a:r>
              <a:rPr sz="1300">
                <a:solidFill>
                  <a:srgbClr val="22302B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22302B"/>
                </a:solidFill>
                <a:latin typeface="Calibri"/>
              </a:rPr>
              <a:t>A bank employee can do their whole job from your UI</a:t>
            </a:r>
            <a:r>
              <a:rPr sz="1300" b="0" i="0">
                <a:solidFill>
                  <a:srgbClr val="22302B"/>
                </a:solidFill>
                <a:latin typeface="Calibri"/>
              </a:rPr>
              <a:t> — find a case, understand exactly why it decided what it decided, fix a wrong decision with a reason, and change product rules without a deploy.</a:t>
            </a:r>
          </a:p>
          <a:p>
            <a:pPr algn="l">
              <a:lnSpc>
                <a:spcPct val="102000"/>
              </a:lnSpc>
              <a:spcAft>
                <a:spcPts val="1100"/>
              </a:spcAft>
            </a:pPr>
            <a:r>
              <a:rPr sz="1300">
                <a:solidFill>
                  <a:srgbClr val="22302B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22302B"/>
                </a:solidFill>
                <a:latin typeface="Calibri"/>
              </a:rPr>
              <a:t>Your schema contains zero applicant data</a:t>
            </a:r>
            <a:r>
              <a:rPr sz="1300" b="0" i="0">
                <a:solidFill>
                  <a:srgbClr val="22302B"/>
                </a:solidFill>
                <a:latin typeface="Calibri"/>
              </a:rPr>
              <a:t> — and your lists stay within the 10-row rule.</a:t>
            </a:r>
          </a:p>
          <a:p>
            <a:pPr algn="l">
              <a:lnSpc>
                <a:spcPct val="102000"/>
              </a:lnSpc>
              <a:spcAft>
                <a:spcPts val="1100"/>
              </a:spcAft>
            </a:pPr>
            <a:r>
              <a:rPr sz="1300">
                <a:solidFill>
                  <a:srgbClr val="22302B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22302B"/>
                </a:solidFill>
                <a:latin typeface="Calibri"/>
              </a:rPr>
              <a:t>Quality holds</a:t>
            </a:r>
            <a:r>
              <a:rPr sz="1300" b="0" i="0">
                <a:solidFill>
                  <a:srgbClr val="22302B"/>
                </a:solidFill>
                <a:latin typeface="Calibri"/>
              </a:rPr>
              <a:t> — ≥ 70% line coverage on business logic, main green on a fresh clone, docker compose up works offline.</a:t>
            </a:r>
          </a:p>
          <a:p>
            <a:pPr algn="l">
              <a:lnSpc>
                <a:spcPct val="102000"/>
              </a:lnSpc>
              <a:spcAft>
                <a:spcPts val="1100"/>
              </a:spcAft>
            </a:pPr>
            <a:r>
              <a:rPr sz="1300">
                <a:solidFill>
                  <a:srgbClr val="22302B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22302B"/>
                </a:solidFill>
                <a:latin typeface="Calibri"/>
              </a:rPr>
              <a:t>The deliverables exist</a:t>
            </a:r>
            <a:r>
              <a:rPr sz="1300" b="0" i="0">
                <a:solidFill>
                  <a:srgbClr val="22302B"/>
                </a:solidFill>
                <a:latin typeface="Calibri"/>
              </a:rPr>
              <a:t> — presentation, user instructions a new operator could follow, the what-we-mocked register, upgrade notes, C4 diagram.</a:t>
            </a:r>
          </a:p>
          <a:p>
            <a:pPr algn="l">
              <a:lnSpc>
                <a:spcPct val="102000"/>
              </a:lnSpc>
              <a:spcAft>
                <a:spcPts val="1100"/>
              </a:spcAft>
            </a:pPr>
            <a:r>
              <a:rPr sz="1300">
                <a:solidFill>
                  <a:srgbClr val="22302B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22302B"/>
                </a:solidFill>
                <a:latin typeface="Calibri"/>
              </a:rPr>
              <a:t>The API is documented and idempotent</a:t>
            </a:r>
            <a:r>
              <a:rPr sz="1300" b="0" i="0">
                <a:solidFill>
                  <a:srgbClr val="22302B"/>
                </a:solidFill>
                <a:latin typeface="Calibri"/>
              </a:rPr>
              <a:t> — OpenAPI 3.0 (Swagger) served per service (mock app included), and repeating any call changes nothing the second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623560"/>
            <a:ext cx="11109960" cy="685800"/>
          </a:xfrm>
          <a:prstGeom prst="roundRect">
            <a:avLst>
              <a:gd name="adj" fmla="val 5000"/>
            </a:avLst>
          </a:prstGeom>
          <a:solidFill>
            <a:srgbClr val="ECF6F1"/>
          </a:solidFill>
          <a:ln w="9525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76072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A98D"/>
                </a:solidFill>
                <a:latin typeface="Calibri"/>
              </a:rPr>
              <a:t>A far more detailed version of this brief exists — your instructor holds it, in the role of your customer. The teams that do best are the ones that ask the most precise questions, earliest.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4A9A1"/>
                </a:solidFill>
                <a:latin typeface="Calibri"/>
              </a:rPr>
              <a:t>MODULE 1 · 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Worked examples — the cast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07040" y="320040"/>
            <a:ext cx="1371600" cy="411480"/>
          </a:xfrm>
          <a:prstGeom prst="rect">
            <a:avLst/>
          </a:prstGeom>
          <a:solidFill>
            <a:srgbClr val="2EA9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9A1"/>
                </a:solidFill>
                <a:latin typeface="Calibri"/>
              </a:rPr>
              <a:t>Application Verification · Student Brief — examples, not the target: your target is the acceptance criteria per use case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2834640" cy="329184"/>
          </a:xfrm>
          <a:prstGeom prst="rect">
            <a:avLst/>
          </a:prstGeom>
          <a:solidFill>
            <a:srgbClr val="14352C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who / what arrives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371600"/>
            <a:ext cx="1920240" cy="329184"/>
          </a:xfrm>
          <a:prstGeom prst="rect">
            <a:avLst/>
          </a:prstGeom>
          <a:solidFill>
            <a:srgbClr val="14352C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outcome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371600"/>
            <a:ext cx="1920240" cy="329184"/>
          </a:xfrm>
          <a:prstGeom prst="rect">
            <a:avLst/>
          </a:prstGeom>
          <a:solidFill>
            <a:srgbClr val="14352C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1371600"/>
            <a:ext cx="4480560" cy="329184"/>
          </a:xfrm>
          <a:prstGeom prst="rect">
            <a:avLst/>
          </a:prstGeom>
          <a:solidFill>
            <a:srgbClr val="14352C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what we expect to see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00784"/>
            <a:ext cx="2834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Maria Nowak — 29, REWARDS card, £3,000, mobile app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700784"/>
            <a:ext cx="1920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PASSED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1700784"/>
            <a:ext cx="1920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completed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1700784"/>
            <a:ext cx="4480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the happy path — one reason: VER_ALL_CHECKS_PASSED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267712"/>
            <a:ext cx="2834640" cy="56692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Priya Raman — 17, student card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2267712"/>
            <a:ext cx="1920240" cy="56692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FAILED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0" y="2267712"/>
            <a:ext cx="1920240" cy="56692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rejected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0" y="2267712"/>
            <a:ext cx="4480560" cy="56692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the age rule names her exact problem, field and all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834640"/>
            <a:ext cx="2834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Tom Bright — loses signal, half a form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2834640"/>
            <a:ext cx="1920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FAILED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0" y="2834640"/>
            <a:ext cx="1920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rejected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2834640"/>
            <a:ext cx="4480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EVERY missing/malformed field reported — not just the first found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401568"/>
            <a:ext cx="2834640" cy="56692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An applicant exactly at a boundary (think: age, limit)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0" y="3401568"/>
            <a:ext cx="1920240" cy="56692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REVIEW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0" y="3401568"/>
            <a:ext cx="1920240" cy="56692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application-manual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23760" y="3401568"/>
            <a:ext cx="4480560" cy="56692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a person decides — not an auto-pass, not an auto-fail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968496"/>
            <a:ext cx="2834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A product no longer on sale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0" y="3968496"/>
            <a:ext cx="1920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FAILED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0" y="3968496"/>
            <a:ext cx="1920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rejected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23760" y="3968496"/>
            <a:ext cx="4480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new applications fail cleanly; nothing old breaks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535424"/>
            <a:ext cx="2834640" cy="56692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An operator overrides a decision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3280" y="4535424"/>
            <a:ext cx="1920240" cy="56692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(changes)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0" y="4535424"/>
            <a:ext cx="1920240" cy="56692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local-manual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60" y="4535424"/>
            <a:ext cx="4480560" cy="566928"/>
          </a:xfrm>
          <a:prstGeom prst="rect">
            <a:avLst/>
          </a:prstGeom>
          <a:solidFill>
            <a:srgbClr val="ECF6F1"/>
          </a:solidFill>
          <a:ln w="6350">
            <a:solidFill>
              <a:srgbClr val="D5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302B"/>
                </a:solidFill>
                <a:latin typeface="Calibri"/>
              </a:rPr>
              <a:t>reason + who + when survive forever; the journey resumes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302B"/>
                </a:solidFill>
                <a:latin typeface="Calibri"/>
              </a:rPr>
              <a:t>The locked reason codes for your domain: VER_ALL_CHECKS_PASSED · VER_MISSING_FIELD · VER_INVALID_FIELD · VER_AGE_BELOW_MINIMUM · VER_LIMIT_OUTSIDE_PRODUCT_RANGE · VER_TERMS_NOT_ACCEPTED. </a:t>
            </a:r>
            <a:r>
              <a:rPr sz="1150" b="1" i="0">
                <a:solidFill>
                  <a:srgbClr val="22302B"/>
                </a:solidFill>
                <a:latin typeface="Calibri"/>
              </a:rPr>
              <a:t>Read that list against the examples above very carefully.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4A9A1"/>
                </a:solidFill>
                <a:latin typeface="Calibri"/>
              </a:rPr>
              <a:t>MODULE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Where you sit — in one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07040" y="320040"/>
            <a:ext cx="1371600" cy="411480"/>
          </a:xfrm>
          <a:prstGeom prst="rect">
            <a:avLst/>
          </a:prstGeom>
          <a:solidFill>
            <a:srgbClr val="2EA9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9A1"/>
                </a:solidFill>
                <a:latin typeface="Calibri"/>
              </a:rPr>
              <a:t>Application Verification — the orchestrator calls you · your rules decide · your config is versioned · your downstream is mocked</a:t>
            </a:r>
          </a:p>
        </p:txBody>
      </p:sp>
      <p:pic>
        <p:nvPicPr>
          <p:cNvPr id="7" name="Picture 6" descr="m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40280"/>
            <a:ext cx="10881360" cy="29596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